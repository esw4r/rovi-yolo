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79d21ed55a4932" /><Relationship Type="http://schemas.openxmlformats.org/officeDocument/2006/relationships/extended-properties" Target="/docProps/app.xml" Id="Rc1eadc637dad4c18" /><Relationship Type="http://schemas.openxmlformats.org/officeDocument/2006/relationships/officeDocument" Target="/ppt/presentation.xml" Id="R2eb9bbaacd7248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8f883ef6604217"/>
  </p:sldMasterIdLst>
  <p:notesMasterIdLst>
    <p:notesMasterId xmlns:r="http://schemas.openxmlformats.org/officeDocument/2006/relationships" r:id="Re6381c9bbc564f62"/>
  </p:notesMasterIdLst>
  <p:sldIdLst>
    <p:sldId xmlns:r="http://schemas.openxmlformats.org/officeDocument/2006/relationships" id="256" r:id="R0d5186d96d2f4cd7"/>
    <p:sldId xmlns:r="http://schemas.openxmlformats.org/officeDocument/2006/relationships" id="257" r:id="R7b168e37fe464220"/>
    <p:sldId xmlns:r="http://schemas.openxmlformats.org/officeDocument/2006/relationships" id="258" r:id="R2625945a2ef74b99"/>
    <p:sldId xmlns:r="http://schemas.openxmlformats.org/officeDocument/2006/relationships" id="259" r:id="R2bb8fb1980074c2e"/>
    <p:sldId xmlns:r="http://schemas.openxmlformats.org/officeDocument/2006/relationships" id="260" r:id="R6221c1084bdb46a3"/>
    <p:sldId xmlns:r="http://schemas.openxmlformats.org/officeDocument/2006/relationships" id="261" r:id="Ra17374818691434d"/>
    <p:sldId xmlns:r="http://schemas.openxmlformats.org/officeDocument/2006/relationships" id="262" r:id="R8fb4f8a54bf84fa0"/>
    <p:sldId xmlns:r="http://schemas.openxmlformats.org/officeDocument/2006/relationships" id="263" r:id="R49f905617336421a"/>
    <p:sldId xmlns:r="http://schemas.openxmlformats.org/officeDocument/2006/relationships" id="264" r:id="Ra58de7b400794c2a"/>
    <p:sldId xmlns:r="http://schemas.openxmlformats.org/officeDocument/2006/relationships" id="265" r:id="Rbb84cc632cd6401e"/>
    <p:sldId xmlns:r="http://schemas.openxmlformats.org/officeDocument/2006/relationships" id="266" r:id="R03961b6dfc8a4222"/>
    <p:sldId xmlns:r="http://schemas.openxmlformats.org/officeDocument/2006/relationships" id="267" r:id="Rafab9bfcf7e24e93"/>
    <p:sldId xmlns:r="http://schemas.openxmlformats.org/officeDocument/2006/relationships" id="268" r:id="R964179e2d76b49c4"/>
    <p:sldId xmlns:r="http://schemas.openxmlformats.org/officeDocument/2006/relationships" id="269" r:id="R84f179cda7b04c87"/>
    <p:sldId xmlns:r="http://schemas.openxmlformats.org/officeDocument/2006/relationships" id="270" r:id="Reb96d1b3daad4db5"/>
    <p:sldId xmlns:r="http://schemas.openxmlformats.org/officeDocument/2006/relationships" id="271" r:id="Ra570be26f437490c"/>
    <p:sldId xmlns:r="http://schemas.openxmlformats.org/officeDocument/2006/relationships" id="272" r:id="Rde22be49edf248ec"/>
    <p:sldId xmlns:r="http://schemas.openxmlformats.org/officeDocument/2006/relationships" id="273" r:id="Rfe07b47ebf814f79"/>
    <p:sldId xmlns:r="http://schemas.openxmlformats.org/officeDocument/2006/relationships" id="274" r:id="R412a1987529940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e5e6171b0e4a35" /><Relationship Type="http://schemas.openxmlformats.org/officeDocument/2006/relationships/slideMaster" Target="/ppt/slideMasters/slideMaster1.xml" Id="R958f883ef6604217" /><Relationship Type="http://schemas.openxmlformats.org/officeDocument/2006/relationships/notesMaster" Target="/ppt/notesMasters/notesMaster1.xml" Id="Re6381c9bbc564f62" /><Relationship Type="http://schemas.openxmlformats.org/officeDocument/2006/relationships/presProps" Target="/ppt/presProps.xml" Id="R7c8240dc7f9441cb" /><Relationship Type="http://schemas.openxmlformats.org/officeDocument/2006/relationships/tableStyles" Target="/ppt/tableStyles.xml" Id="R4967183a36d942d8" /><Relationship Type="http://schemas.openxmlformats.org/officeDocument/2006/relationships/slide" Target="/ppt/slides/slide1.xml" Id="R0d5186d96d2f4cd7" /><Relationship Type="http://schemas.openxmlformats.org/officeDocument/2006/relationships/slide" Target="/ppt/slides/slide2.xml" Id="R7b168e37fe464220" /><Relationship Type="http://schemas.openxmlformats.org/officeDocument/2006/relationships/slide" Target="/ppt/slides/slide3.xml" Id="R2625945a2ef74b99" /><Relationship Type="http://schemas.openxmlformats.org/officeDocument/2006/relationships/slide" Target="/ppt/slides/slide4.xml" Id="R2bb8fb1980074c2e" /><Relationship Type="http://schemas.openxmlformats.org/officeDocument/2006/relationships/slide" Target="/ppt/slides/slide5.xml" Id="R6221c1084bdb46a3" /><Relationship Type="http://schemas.openxmlformats.org/officeDocument/2006/relationships/slide" Target="/ppt/slides/slide6.xml" Id="Ra17374818691434d" /><Relationship Type="http://schemas.openxmlformats.org/officeDocument/2006/relationships/slide" Target="/ppt/slides/slide7.xml" Id="R8fb4f8a54bf84fa0" /><Relationship Type="http://schemas.openxmlformats.org/officeDocument/2006/relationships/slide" Target="/ppt/slides/slide8.xml" Id="R49f905617336421a" /><Relationship Type="http://schemas.openxmlformats.org/officeDocument/2006/relationships/slide" Target="/ppt/slides/slide9.xml" Id="Ra58de7b400794c2a" /><Relationship Type="http://schemas.openxmlformats.org/officeDocument/2006/relationships/slide" Target="/ppt/slides/slide10.xml" Id="Rbb84cc632cd6401e" /><Relationship Type="http://schemas.openxmlformats.org/officeDocument/2006/relationships/slide" Target="/ppt/slides/slide11.xml" Id="R03961b6dfc8a4222" /><Relationship Type="http://schemas.openxmlformats.org/officeDocument/2006/relationships/slide" Target="/ppt/slides/slide12.xml" Id="Rafab9bfcf7e24e93" /><Relationship Type="http://schemas.openxmlformats.org/officeDocument/2006/relationships/slide" Target="/ppt/slides/slide13.xml" Id="R964179e2d76b49c4" /><Relationship Type="http://schemas.openxmlformats.org/officeDocument/2006/relationships/slide" Target="/ppt/slides/slide14.xml" Id="R84f179cda7b04c87" /><Relationship Type="http://schemas.openxmlformats.org/officeDocument/2006/relationships/slide" Target="/ppt/slides/slide15.xml" Id="Reb96d1b3daad4db5" /><Relationship Type="http://schemas.openxmlformats.org/officeDocument/2006/relationships/slide" Target="/ppt/slides/slide16.xml" Id="Ra570be26f437490c" /><Relationship Type="http://schemas.openxmlformats.org/officeDocument/2006/relationships/slide" Target="/ppt/slides/slide17.xml" Id="Rde22be49edf248ec" /><Relationship Type="http://schemas.openxmlformats.org/officeDocument/2006/relationships/slide" Target="/ppt/slides/slide18.xml" Id="Rfe07b47ebf814f79" /><Relationship Type="http://schemas.openxmlformats.org/officeDocument/2006/relationships/slide" Target="/ppt/slides/slide19.xml" Id="R412a1987529940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660b29209b44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cd0a1367d14939" /><Relationship Type="http://schemas.openxmlformats.org/officeDocument/2006/relationships/notesMaster" Target="/ppt/notesMasters/notesMaster1.xml" Id="R348128809b8e43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624ad241da4113" /><Relationship Type="http://schemas.openxmlformats.org/officeDocument/2006/relationships/notesMaster" Target="/ppt/notesMasters/notesMaster1.xml" Id="R9a34c16630f045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f019ea2de44189" /><Relationship Type="http://schemas.openxmlformats.org/officeDocument/2006/relationships/notesMaster" Target="/ppt/notesMasters/notesMaster1.xml" Id="R800d9f7603e94e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a0d3a869084cb8" /><Relationship Type="http://schemas.openxmlformats.org/officeDocument/2006/relationships/notesMaster" Target="/ppt/notesMasters/notesMaster1.xml" Id="R2a08921a509344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3c0e282d7c4150" /><Relationship Type="http://schemas.openxmlformats.org/officeDocument/2006/relationships/notesMaster" Target="/ppt/notesMasters/notesMaster1.xml" Id="R78adf12f11a840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c6d5959bdc4b34" /><Relationship Type="http://schemas.openxmlformats.org/officeDocument/2006/relationships/notesMaster" Target="/ppt/notesMasters/notesMaster1.xml" Id="R1d5fcdcbe4e449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d15a04694943bb" /><Relationship Type="http://schemas.openxmlformats.org/officeDocument/2006/relationships/notesMaster" Target="/ppt/notesMasters/notesMaster1.xml" Id="R05faae0b40c346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d94f07139b4324" /><Relationship Type="http://schemas.openxmlformats.org/officeDocument/2006/relationships/notesMaster" Target="/ppt/notesMasters/notesMaster1.xml" Id="R7bd1f8f47b584c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ab6ee190c54b95" /><Relationship Type="http://schemas.openxmlformats.org/officeDocument/2006/relationships/notesMaster" Target="/ppt/notesMasters/notesMaster1.xml" Id="R886cda835a884f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2c0eab5be74734" /><Relationship Type="http://schemas.openxmlformats.org/officeDocument/2006/relationships/notesMaster" Target="/ppt/notesMasters/notesMaster1.xml" Id="R1211380ac98647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1cb26e11da4ce4" /><Relationship Type="http://schemas.openxmlformats.org/officeDocument/2006/relationships/notesMaster" Target="/ppt/notesMasters/notesMaster1.xml" Id="R15bba6256aa04b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6da4c04d46411d" /><Relationship Type="http://schemas.openxmlformats.org/officeDocument/2006/relationships/notesMaster" Target="/ppt/notesMasters/notesMaster1.xml" Id="R7d2ed1f4459f4d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d3409955b946d1" /><Relationship Type="http://schemas.openxmlformats.org/officeDocument/2006/relationships/notesMaster" Target="/ppt/notesMasters/notesMaster1.xml" Id="Ra9c11540bf784f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6229414c7b49cf" /><Relationship Type="http://schemas.openxmlformats.org/officeDocument/2006/relationships/notesMaster" Target="/ppt/notesMasters/notesMaster1.xml" Id="R6d26c5f7510a46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31e02c54b942cd" /><Relationship Type="http://schemas.openxmlformats.org/officeDocument/2006/relationships/notesMaster" Target="/ppt/notesMasters/notesMaster1.xml" Id="R8f19cdbc18c645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1e5e4f7fa84d61" /><Relationship Type="http://schemas.openxmlformats.org/officeDocument/2006/relationships/notesMaster" Target="/ppt/notesMasters/notesMaster1.xml" Id="Rbfcec50f0574445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b71857155546ea" /><Relationship Type="http://schemas.openxmlformats.org/officeDocument/2006/relationships/notesMaster" Target="/ppt/notesMasters/notesMaster1.xml" Id="R5fccba1000e4420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6c58a71a6e4011" /><Relationship Type="http://schemas.openxmlformats.org/officeDocument/2006/relationships/notesMaster" Target="/ppt/notesMasters/notesMaster1.xml" Id="R2d13aab3371c4b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32c7c21e0f64d29" /><Relationship Type="http://schemas.openxmlformats.org/officeDocument/2006/relationships/notesMaster" Target="/ppt/notesMasters/notesMaster1.xml" Id="Rf063e2de252043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styling and course footer: CB.SC.U4CSE23052-individual.pdf. Presenter identity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new_train.py, gopher-ai_v1.pt class names. Application workflow is proposed.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Li et al. (2025)</a:t>
            </a:r>
          </a:p>
          <a:p xmlns:a="http://schemas.openxmlformats.org/drawingml/2006/main">
            <a:r>
              <a:t>A Lightweight YOLOv11n-Based Framework for Highway Pavement Distress Detection Under Occlusion Conditions</a:t>
            </a:r>
          </a:p>
          <a:p xmlns:a="http://schemas.openxmlformats.org/drawingml/2006/main">
            <a:r>
              <a:t>Applied Sciences 15(17), 9664</a:t>
            </a:r>
          </a:p>
          <a:p xmlns:a="http://schemas.openxmlformats.org/drawingml/2006/main">
            <a:r>
              <a:t>https://doi.org/10.3390/app15179664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Liu et al. (2025)</a:t>
            </a:r>
          </a:p>
          <a:p xmlns:a="http://schemas.openxmlformats.org/drawingml/2006/main">
            <a:r>
              <a:t>A YOLOv11 Empowered Road Defect Detection Model</a:t>
            </a:r>
          </a:p>
          <a:p xmlns:a="http://schemas.openxmlformats.org/drawingml/2006/main">
            <a:r>
              <a:t>Computers, Materials &amp; Continua 85(1), 1073–1094</a:t>
            </a:r>
          </a:p>
          <a:p xmlns:a="http://schemas.openxmlformats.org/drawingml/2006/main">
            <a:r>
              <a:t>https://doi.org/10.32604/cmc.2025.066078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Mi et al. (2026 volume, online 2025)</a:t>
            </a:r>
          </a:p>
          <a:p xmlns:a="http://schemas.openxmlformats.org/drawingml/2006/main">
            <a:r>
              <a:t>Pavement Crack Detection Based on Star-YOLO11</a:t>
            </a:r>
          </a:p>
          <a:p xmlns:a="http://schemas.openxmlformats.org/drawingml/2006/main">
            <a:r>
              <a:t>Computers, Materials &amp; Continua 86(1), 1–22</a:t>
            </a:r>
          </a:p>
          <a:p xmlns:a="http://schemas.openxmlformats.org/drawingml/2006/main">
            <a:r>
              <a:t>https://doi.org/10.32604/cmc.2025.069348</a:t>
            </a:r>
          </a:p>
          <a:p xmlns:a="http://schemas.openxmlformats.org/drawingml/2006/main">
            <a:r>
              <a:t>Journal listing evidence: https://www.scimagojr.com/journalrank.php?area=3100&amp;ord=desc&amp;order=tc and https://www.scimagojr.com/diamond/journalrank.php?area=2500&amp;category=2502&amp;country=US&amp;ord=asc&amp;order=cpd&amp;year=2023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[4] Zhang, Deng &amp; Zou (2025)</a:t>
            </a:r>
          </a:p>
          <a:p xmlns:a="http://schemas.openxmlformats.org/drawingml/2006/main">
            <a:r>
              <a:t>Automatic road damage recognition based on improved YOLOv11 with multi-scale feature extraction and fusion attention mechanism</a:t>
            </a:r>
          </a:p>
          <a:p xmlns:a="http://schemas.openxmlformats.org/drawingml/2006/main">
            <a:r>
              <a:t>PLOS ONE 20(9), e0327387</a:t>
            </a:r>
          </a:p>
          <a:p xmlns:a="http://schemas.openxmlformats.org/drawingml/2006/main">
            <a:r>
              <a:t>https://doi.org/10.1371/journal.pone.0327387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Dong, Yuan &amp; Dai (2025)</a:t>
            </a:r>
          </a:p>
          <a:p xmlns:a="http://schemas.openxmlformats.org/drawingml/2006/main">
            <a:r>
              <a:t>Study on Lightweight Bridge Crack Detection Algorithm Based on YOLO11</a:t>
            </a:r>
          </a:p>
          <a:p xmlns:a="http://schemas.openxmlformats.org/drawingml/2006/main">
            <a:r>
              <a:t>Sensors 25(11), 3276</a:t>
            </a:r>
          </a:p>
          <a:p xmlns:a="http://schemas.openxmlformats.org/drawingml/2006/main">
            <a:r>
              <a:t>https://doi.org/10.3390/s25113276</a:t>
            </a:r>
          </a:p>
          <a:p xmlns:a="http://schemas.openxmlformats.org/drawingml/2006/main">
            <a:r>
              <a:t>SCImago journal listing evidence: https://www.scimagojr.com/journalrank.php?country=&amp;min=3&amp;min_type=cd&amp;ord=desc&amp;order=titem&amp;year=2024 and https://www.scimagojr.com/journalrank.php?area=3100&amp;ord=desc&amp;order=tc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Model/training pipeline: new_train.py, resize_images.py, gopher-ai_v1.pt. UI: gopher-ui/src. API, location capture and operational workflow are planned integration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new_train.py, resize_images.py, prune_backgrounds.py, Afilter_dash.py, rdd2022/data.yaml and gopher-ui/src. API and geotagged event storage are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 definitions: https://docs.ultralytics.com/guides/yolo-performance-metrics/ . Literature values: [1] doi:10.3390/app15179664; [2] doi:10.32604/cmc.2025.066078; [3] doi:10.32604/cmc.2025.069348. Literature values are study-specific and not directly comparable.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read from gopher-ai_v1.pt model.yaml. Nano depth=0.5 and width=0.25. Detect inputs are layers 16,19,22. Sources: installed Ultralytics YOLO11 model definition and https://github.com/ultralytics/ultralytics/blob/main/ultralytics/cfg/models/11/yolo11.yaml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parameter count from gopher-ai_v1.pt: 2,590,815. Model summary reports about 6.4 GFLOPs at 640, rather than 512. FP32 parameter memory is parameter_count*4 / 2^20 MiB. The FLOPs estimate scales spatial work by (512/640)^2 and is approximate.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settings: gopher-ai_v1.pt train_args. YOLO11 loss and inference: installed Ultralytics implementation. Equation simplifies minibatch reduction and assignment weighting. DFL models distance-bin distributions, not a scalar objectness loss.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settings from gopher-ai_v1.pt train_args and new_train.py. The configured maximum is 100 epochs. Saved checkpoint corresponds to epoch 79. Justifications are engineering interpretations, not proven optimal settings.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METHOD, not used to train gopher-ai_v1.pt. Synthetic noise design supplied as an illustrative experiment at the user’s request. No measured gain is claimed. Keep validation/test originals unchanged and create separate deterministic corrupted copies for robustness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gopher-ai_v1.pt train_metrics and train_results. Saved zero-based epoch 78 is epoch 79. Metrics are validation aggregates across all five classes, not pothole-only accuracy. Chart uses selected epochs from the checkpoint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Fresh inference: gopher-ai_v1.pt on rdd2022/RDD_SPLIT/test/images/India_001684.jpg, imgsz=512, conf=0.25. Confidence=0.32417. This single example is not a test-set accuracy estimate. If available, validation.json reports a fresh run on the complete local validation split.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counts audited from image files and label text on 14 October 2026. Official RDD2022: https://figshare.com/articles/dataset/RDD2022_-_The_multi-national_Road_Damage_Dataset_released_through_CRDDC_2022/21431547 . Local downloaded conversion: https://www.kaggle.com/datasets/aliabdelmenam/rdd-2022 . Five local classes differ from the four standard RDD2022 damage categories. IEEE DataPort related benchmark: https://ieee-dataport.org/documents/road-surface-damages, supported by https://www.mdpi.com/2224-2708/11/1/15. Not the dataset used to train this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gopher-ui/src/pages and local development screenshot. Existing interface uses sample data. Model API integration, GPS ingestion and reviewer confirmation remain planned. Screenshot is a prototype, not measured operational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Li et al. (2025)</a:t>
            </a:r>
          </a:p>
          <a:p xmlns:a="http://schemas.openxmlformats.org/drawingml/2006/main">
            <a:r>
              <a:t>A Lightweight YOLOv11n-Based Framework for Highway Pavement Distress Detection Under Occlusion Conditions</a:t>
            </a:r>
          </a:p>
          <a:p xmlns:a="http://schemas.openxmlformats.org/drawingml/2006/main">
            <a:r>
              <a:t>Applied Sciences 15(17), 9664</a:t>
            </a:r>
          </a:p>
          <a:p xmlns:a="http://schemas.openxmlformats.org/drawingml/2006/main">
            <a:r>
              <a:t>https://doi.org/10.3390/app15179664</a:t>
            </a:r>
          </a:p>
          <a:p xmlns:a="http://schemas.openxmlformats.org/drawingml/2006/main">
            <a:r>
              <a:t>Table 4 is the source for the comparator numbers. Do not treat the paper result as a target achieved by the local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URLs were selected from publisher sources or local project evidence. SCImago listings establish journal presence, not a claimed 2026 quartile.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URLs were selected from publisher sources or local project evidence. SCImago listings establish journal presence, not a claimed 2026 quartile.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40ffc8f414d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9efeec7db44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d7959cd2343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6f524e6624f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d582dc26248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617dae24f4e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615BC6-B404-4974-9FA2-573084FC8B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8A45F6-9375-4B8D-A595-C7B94B45E0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50E114-896C-4381-8B50-B27293832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CD30D5-E61B-46BE-82DA-C899BE79FD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E94AF0-4DBB-447C-939E-87D810771E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E0B7C9-3B43-4ECC-B90C-4B3D7FC9BD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83D103-775C-4B1D-AE7F-EBA78AF0B5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3BD3354-6C63-4858-93AA-4EB9B4A3A2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84C315-6FCA-447C-9962-06D702B499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8C1A13-302C-48E8-9448-0303ABF62F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651f0da49b4f19" /><Relationship Type="http://schemas.openxmlformats.org/officeDocument/2006/relationships/slideLayout" Target="/ppt/slideLayouts/slideLayout1.xml" Id="R862539fdefbd463b" /><Relationship Type="http://schemas.openxmlformats.org/officeDocument/2006/relationships/slideLayout" Target="/ppt/slideLayouts/slideLayout2.xml" Id="R483101c9655347f6" /><Relationship Type="http://schemas.openxmlformats.org/officeDocument/2006/relationships/slideLayout" Target="/ppt/slideLayouts/slideLayout3.xml" Id="Rb5d4735476594794" /><Relationship Type="http://schemas.openxmlformats.org/officeDocument/2006/relationships/slideLayout" Target="/ppt/slideLayouts/slideLayout4.xml" Id="Rdb23cf79303c4fe2" /><Relationship Type="http://schemas.openxmlformats.org/officeDocument/2006/relationships/slideLayout" Target="/ppt/slideLayouts/slideLayout5.xml" Id="R0218bff8377a41b2" /><Relationship Type="http://schemas.openxmlformats.org/officeDocument/2006/relationships/slideLayout" Target="/ppt/slideLayouts/slideLayout6.xml" Id="Rde3ed6ed761240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2539fdefbd463b"/>
    <p:sldLayoutId xmlns:r="http://schemas.openxmlformats.org/officeDocument/2006/relationships" id="2147483650" r:id="R483101c9655347f6"/>
    <p:sldLayoutId xmlns:r="http://schemas.openxmlformats.org/officeDocument/2006/relationships" id="2147483651" r:id="Rb5d4735476594794"/>
    <p:sldLayoutId xmlns:r="http://schemas.openxmlformats.org/officeDocument/2006/relationships" id="2147483652" r:id="Rdb23cf79303c4fe2"/>
    <p:sldLayoutId xmlns:r="http://schemas.openxmlformats.org/officeDocument/2006/relationships" id="2147483653" r:id="R0218bff8377a41b2"/>
    <p:sldLayoutId xmlns:r="http://schemas.openxmlformats.org/officeDocument/2006/relationships" id="2147483654" r:id="Rde3ed6ed761240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87aebbae6b4509" /><Relationship Type="http://schemas.openxmlformats.org/officeDocument/2006/relationships/image" Target="/ppt/media/image.png" Id="Ra31544ab28ca438f" /><Relationship Type="http://schemas.openxmlformats.org/officeDocument/2006/relationships/notesSlide" Target="/ppt/notesSlides/notesSlide1.xml" Id="R5602590e4f2f48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af5fac8f9461e" /><Relationship Type="http://schemas.openxmlformats.org/officeDocument/2006/relationships/image" Target="/ppt/media/image.jpeg" Id="R5e01edda59a044d1" /><Relationship Type="http://schemas.openxmlformats.org/officeDocument/2006/relationships/notesSlide" Target="/ppt/notesSlides/notesSlide2.xml" Id="Rc716d737b96841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3f804ade74ce2" /><Relationship Type="http://schemas.openxmlformats.org/officeDocument/2006/relationships/notesSlide" Target="/ppt/notesSlides/notesSlide3.xml" Id="R4cad693b38134f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a47572ada14d7b" /><Relationship Type="http://schemas.openxmlformats.org/officeDocument/2006/relationships/notesSlide" Target="/ppt/notesSlides/notesSlide4.xml" Id="R6eca47a3d2d645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fa51c06ae4f33" /><Relationship Type="http://schemas.openxmlformats.org/officeDocument/2006/relationships/notesSlide" Target="/ppt/notesSlides/notesSlide5.xml" Id="R762ceb6d38cc4f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975b5e60074179" /><Relationship Type="http://schemas.openxmlformats.org/officeDocument/2006/relationships/notesSlide" Target="/ppt/notesSlides/notesSlide6.xml" Id="R5449d07a4acc4f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3c2e0d114040e0" /><Relationship Type="http://schemas.openxmlformats.org/officeDocument/2006/relationships/notesSlide" Target="/ppt/notesSlides/notesSlide7.xml" Id="R8dd3234e912e44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1e7537ea8d49c0" /><Relationship Type="http://schemas.openxmlformats.org/officeDocument/2006/relationships/notesSlide" Target="/ppt/notesSlides/notesSlide8.xml" Id="R5286dea6078d49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52f0d7c2a493f" /><Relationship Type="http://schemas.openxmlformats.org/officeDocument/2006/relationships/notesSlide" Target="/ppt/notesSlides/notesSlide9.xml" Id="R66b968e38f5e44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366957a5ce4d0a" /><Relationship Type="http://schemas.openxmlformats.org/officeDocument/2006/relationships/notesSlide" Target="/ppt/notesSlides/notesSlide10.xml" Id="R01e2b18e819644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7b9e7f7cfa4440" /><Relationship Type="http://schemas.openxmlformats.org/officeDocument/2006/relationships/notesSlide" Target="/ppt/notesSlides/notesSlide11.xml" Id="R5ed49348035a42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c8dfd17d44397" /><Relationship Type="http://schemas.openxmlformats.org/officeDocument/2006/relationships/notesSlide" Target="/ppt/notesSlides/notesSlide12.xml" Id="R4764a9d3facb48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22c62bc50439e" /><Relationship Type="http://schemas.openxmlformats.org/officeDocument/2006/relationships/chart" Target="/ppt/slides/charts/chart1.xml" Id="Re4231d2b67164abd" /><Relationship Type="http://schemas.openxmlformats.org/officeDocument/2006/relationships/notesSlide" Target="/ppt/notesSlides/notesSlide13.xml" Id="R7e18027bdf6547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8e7ccd4371475b" /><Relationship Type="http://schemas.openxmlformats.org/officeDocument/2006/relationships/image" Target="/ppt/media/image2.jpeg" Id="R10751d25f7e94000" /><Relationship Type="http://schemas.openxmlformats.org/officeDocument/2006/relationships/notesSlide" Target="/ppt/notesSlides/notesSlide14.xml" Id="R5c1a46182ceb45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dba87e83234451" /><Relationship Type="http://schemas.openxmlformats.org/officeDocument/2006/relationships/notesSlide" Target="/ppt/notesSlides/notesSlide15.xml" Id="Rd3afc3e6da2e45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71c9b7b6df49d7" /><Relationship Type="http://schemas.openxmlformats.org/officeDocument/2006/relationships/image" Target="/ppt/media/image2.png" Id="R8fe161ce93744ddc" /><Relationship Type="http://schemas.openxmlformats.org/officeDocument/2006/relationships/notesSlide" Target="/ppt/notesSlides/notesSlide16.xml" Id="Rb238586be2a342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609f7c2d4d4104" /><Relationship Type="http://schemas.openxmlformats.org/officeDocument/2006/relationships/notesSlide" Target="/ppt/notesSlides/notesSlide17.xml" Id="R6430b62624e943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5839192634bdf" /><Relationship Type="http://schemas.openxmlformats.org/officeDocument/2006/relationships/notesSlide" Target="/ppt/notesSlides/notesSlide18.xml" Id="R488edbcff4e9420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4c2cc5b734dc1" /><Relationship Type="http://schemas.openxmlformats.org/officeDocument/2006/relationships/notesSlide" Target="/ppt/notesSlides/notesSlide19.xml" Id="R460d015c6eae459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mAP50</c:v>
          </c:tx>
          <c:spPr>
            <a:ln xmlns:a="http://schemas.openxmlformats.org/drawingml/2006/main" w="28575">
              <a:solidFill>
                <a:srgbClr val="801238"/>
              </a:solidFill>
            </a:ln>
          </c:spPr>
          <c:marker>
            <c:symbol val="none"/>
          </c:marker>
          <c:cat>
            <c:numRef>
              <c:f>'Chart Data'!$A$2:$A$10</c:f>
              <c:numCache>
                <c:formatCode>General</c:formatCode>
                <c:ptCount val="9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79</c:v>
                </c:pt>
              </c:numCache>
            </c:num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8.904</c:v>
                </c:pt>
                <c:pt idx="1">
                  <c:v>34.84</c:v>
                </c:pt>
                <c:pt idx="2">
                  <c:v>41.892</c:v>
                </c:pt>
                <c:pt idx="3">
                  <c:v>45.776</c:v>
                </c:pt>
                <c:pt idx="4">
                  <c:v>47.999</c:v>
                </c:pt>
                <c:pt idx="5">
                  <c:v>49.129</c:v>
                </c:pt>
                <c:pt idx="6">
                  <c:v>49.647</c:v>
                </c:pt>
                <c:pt idx="7">
                  <c:v>50.059</c:v>
                </c:pt>
                <c:pt idx="8">
                  <c:v>50.431</c:v>
                </c:pt>
              </c:numCache>
            </c:numRef>
          </c:val>
          <c:smooth val="0"/>
        </c:ser>
        <c:ser>
          <c:idx val="1"/>
          <c:order val="1"/>
          <c:tx>
            <c:v>mAP50–95</c:v>
          </c:tx>
          <c:spPr>
            <a:ln xmlns:a="http://schemas.openxmlformats.org/drawingml/2006/main" w="28575">
              <a:solidFill>
                <a:srgbClr val="427786"/>
              </a:solidFill>
            </a:ln>
          </c:spPr>
          <c:marker>
            <c:symbol val="none"/>
          </c:marker>
          <c:cat>
            <c:numRef>
              <c:f>'Chart Data'!$C$2:$C$10</c:f>
              <c:numCache>
                <c:formatCode>General</c:formatCode>
                <c:ptCount val="9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79</c:v>
                </c:pt>
              </c:numCache>
            </c:num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3.192</c:v>
                </c:pt>
                <c:pt idx="1">
                  <c:v>16.181</c:v>
                </c:pt>
                <c:pt idx="2">
                  <c:v>20.022</c:v>
                </c:pt>
                <c:pt idx="3">
                  <c:v>22.79</c:v>
                </c:pt>
                <c:pt idx="4">
                  <c:v>24.118</c:v>
                </c:pt>
                <c:pt idx="5">
                  <c:v>24.76</c:v>
                </c:pt>
                <c:pt idx="6">
                  <c:v>25.214</c:v>
                </c:pt>
                <c:pt idx="7">
                  <c:v>25.54</c:v>
                </c:pt>
                <c:pt idx="8">
                  <c:v>25.661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latin typeface="Aptos"/>
                    <a:ea typeface="Aptos"/>
                    <a:cs typeface="Aptos"/>
                  </a:rPr>
                  <a:t>Training 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latin typeface="Aptos"/>
                    <a:ea typeface="Aptos"/>
                    <a:cs typeface="Aptos"/>
                  </a:rPr>
                  <a:t>Validation metric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ptos"/>
              <a:ea typeface="Aptos"/>
              <a:cs typeface="Apto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C1421-5126-4097-9D5C-ACA1C4E157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544ab28ca438f"/>
          <a:stretch xmlns:a="http://schemas.openxmlformats.org/drawingml/2006/main"/>
        </p:blipFill>
        <p:spPr>
          <a:xfrm xmlns:a="http://schemas.openxmlformats.org/drawingml/2006/main">
            <a:off x="5619750" y="233363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5EC57-2ACF-4C99-8B60-E15E6239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60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GOPHER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79ECD-024F-486A-A11C-11D4A335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Pothole Detection with YOLO11n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7074B-9125-42DB-929A-7EAD35FB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6565F"/>
                </a:solidFill>
                <a:latin typeface="Aptos"/>
                <a:ea typeface="Aptos"/>
                <a:cs typeface="Aptos"/>
              </a:rPr>
              <a:t>Trained model: gopher-ai_v1.pt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5AE7C-1369-4FFD-AB81-724D205C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Individual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DF829-2DC0-468C-8258-77CBC6C3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Eswara Raj M (CB.SC.U4CSE23022)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2FAD7-E91B-48F7-AE30-22730C8A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Faculty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E1A5F-0678-4579-98DA-AD90889D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Dr. T. Senthil Kumar, Professor, CSE Department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59CD5-3E1D-493E-BB91-767BEDC5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98AE4-1F1F-4C88-A813-19341F69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73E2B-4BAB-4899-BDE0-34ADD415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 / 18</a:t>
            </a:r>
          </a:p>
        </p:txBody>
      </p:sp>
    </p:spTree>
    <p:extLst>
      <p:ext uri="{BB962C8B-B14F-4D97-AF65-F5344CB8AC3E}">
        <p14:creationId xmlns:p14="http://schemas.microsoft.com/office/powerpoint/2010/main" val="429614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43F4A-0FB2-4D27-BC22-E1533D65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Problem Statement, Introduction &amp;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48557-F3B6-4939-A9C0-67495532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007F1-2896-4EC4-B0C4-F786F574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5810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Manual road inspection is slow and inconsistent. Small potholes can blend into shadows, patches and rough road texture.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55852-2952-4479-86F1-7E4A15C0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ABD81-91B9-41E8-BA5E-714BDDEE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2325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Locate potholes in road images or video frames using bounding boxes and confidence scores.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3F8F5-BCBB-4975-995B-1D3E1C74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47045-D6AF-4129-A369-E114D32D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24425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A compact detector can support frequent surveys and help reviewers identify road sections that need attention.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D788CC-E73C-4B32-85BD-C68F7A2BC9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1edda59a044d1"/>
          <a:stretch xmlns:a="http://schemas.openxmlformats.org/drawingml/2006/main"/>
        </p:blipFill>
        <p:spPr>
          <a:xfrm xmlns:a="http://schemas.openxmlformats.org/drawingml/2006/main">
            <a:off x="7143750" y="1343025"/>
            <a:ext cx="4191000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29BFB-E9CF-482D-A346-56778DF9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2452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65F"/>
                </a:solidFill>
                <a:latin typeface="Aptos"/>
                <a:ea typeface="Aptos"/>
                <a:cs typeface="Aptos"/>
              </a:rPr>
              <a:t>The checkpoint predicts five damage classes. The application focuses on class 4: Pothole.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5AD4C-A903-4863-8AFB-7E3BA442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29D3A-9FA5-408E-AE7A-2667EC0B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50920-9138-4983-B68E-D6AAE758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377794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E52F7-1C12-4282-A84C-C98F20D7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Literature Survey: YOLO11 for Road Damage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D2E17-3E19-47B1-B4CA-9FA9753C2BB6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238625"/>
                <a:gridCol w="3705225"/>
              </a:tblGrid>
              <a:tr h="101203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 / journal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 and reported result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Relevance to Gopher AI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[1] Li et al., 2025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Applied Sciences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RS-YOLOv11n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Lightweight detector for occluded pavement.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mAP50 71.49%, recall 64.43%.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Closest architecture: YOLO11n.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Study speed, size and occlusion together.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[2] Liu et al., 2025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Computers, Materials &amp; Continua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Empowered YOLOv11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WTConv, multiscale fusion and revised IoU loss.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mAP50 86.5%, F1 83.5%.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Feature fusion and localization loss can improve damage detection.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[3] Mi et al., 2026 volume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Computers, Materials &amp; Continua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Star-YOLO11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Feature extraction, attention and augmentation.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mAP50 90.3%, mAP50–95 62.7%.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Noise and lighting augmentation motivate the proposed denoising study.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AA794-A22A-4DEF-B8D4-9DE4A598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2452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65F"/>
                </a:solidFill>
                <a:latin typeface="Aptos"/>
                <a:ea typeface="Aptos"/>
                <a:cs typeface="Aptos"/>
              </a:rPr>
              <a:t>2025/2026 journal papers. Journal listings are on SCImago. Results use different datasets and protocols.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B1435-2946-4CCE-917B-63204DF8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CF678-9B61-4440-BBDB-6819455F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6BD16-EBBB-4CCF-B87C-421BF232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1761747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C6BAB-83B7-48BF-9B9B-24CA40D4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Literature Survey: Small Objects &amp; Efficiency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4150C-21A8-435D-8E84-966EE8063C96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238625"/>
                <a:gridCol w="3705225"/>
              </a:tblGrid>
              <a:tr h="1035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 / journal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 and reported improvement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Relevance and limitation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</a:tr>
              <a:tr h="1035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[4] Zhang et al., 2025</a:t>
                      </a:r>
                    </a:p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PLOS ONE</a:t>
                      </a:r>
                    </a:p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YOLOv11-ATL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Tiny-object head, attention and lightweight convolutions.</a:t>
                      </a:r>
                    </a:p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mAP50 +3.2 points, mAP50–95 +3.1 points.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Preserving detail may help distant potholes.</a:t>
                      </a:r>
                    </a:p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Study uses an RDD2022 China subset.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35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[5] Dong et al., 2025</a:t>
                      </a:r>
                    </a:p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Sensors</a:t>
                      </a:r>
                    </a:p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YOLO11-BD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Lightweight bridge crack detector.</a:t>
                      </a:r>
                    </a:p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mAP50 +3.1 points, mAP50–95 +4.8 points.</a:t>
                      </a:r>
                    </a:p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GFLOPs reduced 19.05%.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Useful nano-model efficiency comparison.</a:t>
                      </a:r>
                    </a:p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Bridge cracks differ from potholes.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66127-5E9E-4F5B-A5D5-143AC602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Research gap for this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F7855-9856-40BC-9892-6755030A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Test whether controlled image corruption and edge-preserving filtering improve pothole recall without unacceptable latency.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353F5-97CC-4E45-9A21-15CEA6AC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11776-99B6-4F17-961F-0069D071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1D18D-E86A-49C6-8C6B-F8AAE5E8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898865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72E434-73A2-421B-8855-43F97609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Overall 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47BE9-AAB7-4BCF-A614-E322BB26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Training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2F0B1-4466-45C0-8015-CDB816AD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19275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0D8DD-8BB5-4492-B4F0-949FD2EB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RDD2022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images + labels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D32B3-4842-486B-8877-BB26877E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52650"/>
            <a:ext cx="2095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6E376-8B04-4860-BCCB-C85B2366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19275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C3AFC-5A9A-49F7-8F36-FF3E487E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Prepare data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resize / augment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83729-04DC-49F4-829F-2975410C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52650"/>
            <a:ext cx="2095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1F290-F6C1-49F4-AE21-2FC5D3BF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19275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6BD0C-0CC6-4259-B468-C49B8472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Fine-tune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YOLO11n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AFE6D-E2E1-428A-8C35-FA43E4E8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2095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ABDD1-00C4-4FC5-9415-2B9E76C3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19275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09FE9-CA79-4DD0-8E64-22F5E653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Validate and save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gopher-ai_v1.pt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6CDD6-E5B4-4B89-AFC2-1C19B161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Planned application 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95AC8-4CF5-4D58-BED1-82FE0566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091FC-C35B-4AA4-AAF0-997B600B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24275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Image / video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302E9-05F9-46C9-8A2D-03BBB083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62400"/>
            <a:ext cx="2095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3A760-EB81-44B8-AB99-2EF1E542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3855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AC1A0-D819-442E-959F-5C2984DA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24275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512-pixel input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model inference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591A7-19DE-4AC5-89DA-59057FDE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62400"/>
            <a:ext cx="2095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EB7C0-4D6A-4FDF-9084-17827D16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96BCA-F7B5-4169-9262-3462F553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24275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Confidence filter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NMS + class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716EDF-E1D8-466A-BF48-00F09FB1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62400"/>
            <a:ext cx="2095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6651C-4922-4253-A672-BDFE354B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3855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54EEE-B743-4373-B7C9-F38BD794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24275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Review dashboard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map / 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07F085-18DE-4715-BF3C-AEE0038B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110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Optional denoising sits before inference. Location metadata comes from the capture device.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137818-4CFB-4C65-92B7-1800AD30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D9BBFC-EC5B-4AD1-92A4-525BA669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E01F7F-0390-41C2-A878-810C140B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883541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7C165-4228-4DE4-B35D-98EADA5D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Module Details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5BE19-84A2-49A2-A0F7-F07F39D56F11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105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524250"/>
                <a:gridCol w="5038725"/>
              </a:tblGrid>
              <a:tr h="6842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Module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Input / output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Role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</a:tr>
              <a:tr h="684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Data preparation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Road images + YOLO labels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Prepared train/validation/test splits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Filter unsuitable viewpoints, retain background examples and resize images.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4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Training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COCO weights + annotated images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Fine-tuned checkpoint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Optimize box, class and distribution focal losses.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684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Inference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Image / frame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Boxes, class IDs, confidence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Run YOLO11n, suppress duplicate boxes and expose pothole detections.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4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Application integration (planned)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Detection + timestamp + optional GPS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Reviewable damage record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Connect the model service to map views and a repair review workflow.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684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Evaluation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Predictions + reference labels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P, R, AP and latency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Measure localization, missed potholes and practical inference cost.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18A9D-0567-437E-93CF-99D54D10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65973-CB4D-4C50-BFE9-03D470DF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10A3C-C519-4DAF-99FC-46959953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20702814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B0CE8-EE8B-4A3E-A523-0B2F3993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Performance Metrics: Formula, Purpose &amp; Suitability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AC07B-5FB2-404A-A856-FBEAE2AEB4C6}"/>
              </a:ext>
            </a:extLst>
          </p:cNvPr>
          <p:cNvGraphicFramePr/>
          <p:nvPr/>
        </p:nvGraphicFramePr>
        <p:xfrm>
          <a:off xmlns:a="http://schemas.openxmlformats.org/drawingml/2006/main" x="457200" y="1323975"/>
          <a:ext xmlns:a="http://schemas.openxmlformats.org/drawingml/2006/main" cx="11277600" cy="4257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4657725"/>
                <a:gridCol w="2524125"/>
              </a:tblGrid>
              <a:tr h="7096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Metric / formula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Purpose for this application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Reported reference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Precision = TP / (TP + FP)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How many reported potholes are correct.</a:t>
                      </a:r>
                    </a:p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Controls unnecessary review or repairs.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[3] Precision: 89.9%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Recall = TP / (TP + FN)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How many real potholes the system finds.</a:t>
                      </a:r>
                    </a:p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Missed road hazards are the key concern.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[1] Recall: 64.43%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F1 = 2PR / (P + R)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Balances missed damage and false alarms.</a:t>
                      </a:r>
                    </a:p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Choose the operating threshold on validation.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[2] F1: 83.5%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IoU = area(B ∩ G) / area(B ∪ G)</a:t>
                      </a:r>
                    </a:p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AP = ∫₀¹ P(R) dR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IoU checks box overlap. AP summarizes the</a:t>
                      </a:r>
                    </a:p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precision–recall curve at a chosen IoU.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[3] mAP50: 90.3%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mAP = (1/C) Σ APc</a:t>
                      </a:r>
                    </a:p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mAP50–95: IoUs 0.50:0.05:0.95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Average AP across classes. Stricter IoUs</a:t>
                      </a:r>
                    </a:p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reward accurate pothole boundaries.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[3] mAP50–95:</a:t>
                      </a:r>
                    </a:p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62.7%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7D3F6-D770-4CEE-981B-F8E328E8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2452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65F"/>
                </a:solidFill>
                <a:latin typeface="Aptos"/>
                <a:ea typeface="Aptos"/>
                <a:cs typeface="Aptos"/>
              </a:rPr>
              <a:t>TP/FP/FN use one-to-one matching by class and IoU. AP50 is the pothole metric; mAP averages classes.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58417-1195-4FB7-9AA5-B14E7D7D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C1AD0-21F1-41A6-B2B5-5BC8EF0D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A0798-D820-43C0-A7E6-A1D0BAD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16028485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E7B1FD-A875-4DD2-8499-63715373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Deep Learning Architecture: YOLO11n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E05E3-961E-4D8A-BEDA-D782DAA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19E03-D80C-4C85-A7B3-2BBDA1B8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RGB input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512 × 512 ×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26811-AD65-44EA-80F9-720D1BBA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800225"/>
            <a:ext cx="2952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9247C-824A-4999-939D-841D7898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04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8F9F8-11E6-4793-9AA6-2BC6CB6D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90675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Backbone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Conv + C3k2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4777E-CD33-476B-BB59-2B53B2DD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00225"/>
            <a:ext cx="2952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827C7-5B24-464F-B34B-004FA988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504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55063-6BD3-445D-A69A-B2FFFD27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90675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Context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SPPF + C2PSA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622F2-7A16-49A1-B58B-78CB5AE3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0225"/>
            <a:ext cx="2952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54641-9039-40A9-900F-D4D325DA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04950"/>
            <a:ext cx="3028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59745-D022-4CFB-AF5E-D89F33D8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90675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Neck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Upsample / concat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9F581-A637-4DFA-B190-D5465D6A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669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E0032-9336-4944-B311-51C6DF76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09850"/>
            <a:ext cx="816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C1E08-92D9-4E98-A4F9-A106BC4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800350"/>
            <a:ext cx="19050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0C485-B412-4CAB-BEC2-68754016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00350"/>
            <a:ext cx="19050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3B6E9-0463-4402-9708-79E4531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800350"/>
            <a:ext cx="19050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7C55D-2E0F-41D5-B979-1AE2DACF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48025"/>
            <a:ext cx="25622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55BEF-43CD-4F5A-AF4A-4C12F7D1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P3 / stride 8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64 × 64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37981-B6AC-4943-BF7D-FE5D14BC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48025"/>
            <a:ext cx="25622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CDF95-56BD-409C-BB24-1F26648D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337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P4 / stride 16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32 × 32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91B41-8202-4E77-AFCE-900152ED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48025"/>
            <a:ext cx="25622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A8BFD-1495-41FB-B5F0-23669E24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337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P5 / stride 32</a:t>
            </a:r>
          </a:p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16 × 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B14872-79C0-4BC0-99C2-1E9EE2F2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171950"/>
            <a:ext cx="19050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F5C76-255B-4D3A-81CF-D46FAAE4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171950"/>
            <a:ext cx="19050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6A0863-5C4C-450C-A2F1-571EF705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71950"/>
            <a:ext cx="19050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36AC95-9B19-4F5B-AAF4-F425D767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29150"/>
            <a:ext cx="9429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1"/>
          </a:solidFill>
          <a:ln xmlns:a="http://schemas.openxmlformats.org/drawingml/2006/main" w="11430">
            <a:solidFill>
              <a:srgbClr val="80123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744CEE-06A3-449E-A1A3-8A2F27E4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14875"/>
            <a:ext cx="9201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Decoupled detection heads: box distributions + five class scores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B994A-086A-40D9-845B-4E342E8C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2452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65F"/>
                </a:solidFill>
                <a:latin typeface="Aptos"/>
                <a:ea typeface="Aptos"/>
                <a:cs typeface="Aptos"/>
              </a:rPr>
              <a:t>C3k2 extracts features, SPPF expands context, and C2PSA applies attention. No custom blocks in this checkpoint.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90B6E8-1EFB-4009-8F30-C84BDC2E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F39C52-27CC-4813-9775-BB4C1904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ADC35B-28DC-4BF3-AB4B-9BAACF4D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4518664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F6946-CC64-446D-B640-2349B013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Architecture Novelty &amp; Computational Complexity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F6690-B6C6-4E74-B67B-27CE6365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43025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Current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380FE-3473-450D-8EDA-02111657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467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COCO transfer learning with the standard YOLO11n network and a five-class detection head. Project contributions lie in data preparation and application integration.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7C6FA-30E3-44A0-B9B1-12C67C17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430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Proposed extension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1432E-BD3F-4F46-AE67-CB0707D7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5257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Noise-aware preprocessing before the detector. Compare baseline, noise augmentation, and augmentation plus filtering in an ablation study.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5948A-3CF3-41DC-A8DA-3607C30F4A92}"/>
              </a:ext>
            </a:extLst>
          </p:cNvPr>
          <p:cNvGraphicFramePr/>
          <p:nvPr/>
        </p:nvGraphicFramePr>
        <p:xfrm>
          <a:off xmlns:a="http://schemas.openxmlformats.org/drawingml/2006/main" x="457200" y="3238500"/>
          <a:ext xmlns:a="http://schemas.openxmlformats.org/drawingml/2006/main" cx="112776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324850"/>
              </a:tblGrid>
              <a:tr h="476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Aspect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Cost / interpretation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Convolution time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O(Σ Hl Wl kl² Cin,l Cout,l) for standard convolution layers.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Attention and postprocessing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Attention: O(N²d) per attention block.</a:t>
                      </a:r>
                    </a:p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Greedy NMS: O(K²) worst case after confidence filtering.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Model and memory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2,590,815 parameters. FP32 weights ≈ 9.88 MiB.</a:t>
                      </a:r>
                    </a:p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Training also stores activations, gradients and optimizer states.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Input resolution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512² / 640² = 0.64 spatial cost ratio.</a:t>
                      </a:r>
                    </a:p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Approx. 4.1 GFLOPs at 512, derived from the 6.4 GFLOPs summary.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D5E08-5C99-4004-958D-0FC4B100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0510C-FCEF-456A-A7C2-340DB5AD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15928-497B-473C-BD97-DC19B68B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858851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2A505-ACB3-4FB3-BE4E-932872E4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Algorithm Procedure: Mathematical Steps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E719B-6B17-4FD4-99FB-012C2EE2B642}"/>
              </a:ext>
            </a:extLst>
          </p:cNvPr>
          <p:cNvGraphicFramePr/>
          <p:nvPr/>
        </p:nvGraphicFramePr>
        <p:xfrm>
          <a:off xmlns:a="http://schemas.openxmlformats.org/drawingml/2006/main" x="457200" y="1333500"/>
          <a:ext xmlns:a="http://schemas.openxmlformats.org/drawingml/2006/main" cx="112776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9039225"/>
              </a:tblGrid>
              <a:tr h="60551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Step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Operation / mathematical form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1. Prepare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x = letterbox(I, 512) / 255. Transform box labels with the same resize and padding.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2. Extract features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Fl = SiLU(BN(Wl * Fl−1)). Fuse backbone features at strides 8, 16 and 32.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3. Predict and assign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For each location, predict class scores and four distance distributions.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Match candidate locations to ground-truth boxes with task-aligned assignment.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4. Minimize loss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L = 7.5 Lbox + 0.5 Lcls + 1.5 LDFL.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Lbox uses CIoU, Lcls uses BCE, and DFL learns bounding-box distance bins.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5. Update parameters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AdamW: θt+1 = (1 − ηtλ)θt − ηt m̂t / (√v̂t + ε).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Validate each epoch and retain the checkpoint with best fitness.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6. Infer and filter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Decode boxes, retain scores ≥ 0.25, apply NMS and select class ID 4.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Return box coordinates and confidence to the application.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B9155-C074-4709-8FA1-E3935AB7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B80AA-9D37-472E-815C-0BDB5E33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B869B-BF1F-4B63-B582-C81AD4CB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076131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4D637-3DFC-4CAA-B1DA-466281A0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Hyperparameter Details with Justification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D3BFD-89AE-4361-A848-A861C9DBCE9E}"/>
              </a:ext>
            </a:extLst>
          </p:cNvPr>
          <p:cNvGraphicFramePr/>
          <p:nvPr/>
        </p:nvGraphicFramePr>
        <p:xfrm>
          <a:off xmlns:a="http://schemas.openxmlformats.org/drawingml/2006/main" x="457200" y="1295400"/>
          <a:ext xmlns:a="http://schemas.openxmlformats.org/drawingml/2006/main" cx="11277600" cy="4371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8950"/>
                <a:gridCol w="2800350"/>
                <a:gridCol w="5448300"/>
              </a:tblGrid>
              <a:tr h="43719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Hyperparameter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Actual value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Justification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</a:tr>
              <a:tr h="43719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Initialization / input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YOLO11n COCO / 512 px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Transfer visual features at lower input cost.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719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Epochs / patience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100 maximum / 10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Allow convergence with early stopping.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43719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Batch / workers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16 / 3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Fit the GTX 1650 setup and feed batches.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719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Optimizer / initial LR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AdamW / 0.0015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Adaptive updates for stable fine-tuning.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43719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Weight decay / warmup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0.0005 / 3 epochs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Regularize weights and ease initial updates.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719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AMP / cache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False / True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Use FP32 and reduce repeated disk access.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43719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Mosaic / close_mosaic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1.0 / final 10 epochs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Vary object context, then simplify batches.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719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Horizontal / vertical flip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0.5 / 0; rotation 0°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Retain plausible road viewpoints.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43719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HSV / scale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0.015, 0.7, 0.4 / 0.5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Vary lighting, colour and object size.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80201-84DF-46C5-ABA4-638978AF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30FBC-7A5A-43A3-9871-72CF5CD1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DBCC0-FD44-4511-85C1-5CB95467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3251059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B2F38-6996-4D4B-BE61-EBD20C6C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Denosing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D64F8-97CE-4380-9C4C-92DE82B0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47775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Proposed experiment: synthetic noise augmentation and edge-preserving filtering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9E33F-C924-411C-BD23-E3A689E7ED23}"/>
              </a:ext>
            </a:extLst>
          </p:cNvPr>
          <p:cNvGraphicFramePr/>
          <p:nvPr/>
        </p:nvGraphicFramePr>
        <p:xfrm>
          <a:off xmlns:a="http://schemas.openxmlformats.org/drawingml/2006/main" x="457200" y="1971675"/>
          <a:ext xmlns:a="http://schemas.openxmlformats.org/drawingml/2006/main" cx="112776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8277225"/>
              </a:tblGrid>
              <a:tr h="62103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Stage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How the method works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Add noise to training copies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With probability 0.5, choose Gaussian or impulse noise.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Gaussian: I˜ = clip(I + ε, 0, 1), ε ~ N(0, σ²), σ ∈ [0.01, 0.05].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Simulate pixel corruption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Impulse noise: set a random 0.5–1.0% of pixels to 0 or 1.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Keep original images and bounding-box labels unchanged.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Denoise while retaining edges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Apply a 3 × 3 median filter for impulse noise.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Use a bilateral filter for Gaussian noise to preserve pothole boundaries.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Train and compare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Mix clean and processed copies. Compare baseline, noisy training,</a:t>
                      </a:r>
                    </a:p>
                    <a:p>
                      <a:r>
                        <a:rPr sz="165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and noisy training + filtering at matched training settings.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4B87F-5748-43EB-B17F-3537F038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Evaluation: pothole AP50, recall and added latency on clean and fixed-noise validation sets.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6EB8A-A3CE-4901-8393-7EAB68DD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2880A-D715-4AC4-BC6A-C909115D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2C589-82B2-4F0E-8986-E9429A28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5061488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E5034-36AA-4E01-9F00-710779A9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Results: Saved Checkpoint &amp; Learning Curve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5B9D4-933C-44D6-B587-EDDF889737C8}"/>
              </a:ext>
            </a:extLst>
          </p:cNvPr>
          <p:cNvGraphicFramePr/>
          <p:nvPr/>
        </p:nvGraphicFramePr>
        <p:xfrm>
          <a:off xmlns:a="http://schemas.openxmlformats.org/drawingml/2006/main" x="457200" y="1409700"/>
          <a:ext xmlns:a="http://schemas.openxmlformats.org/drawingml/2006/main" cx="4238625" cy="2867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524000"/>
              </a:tblGrid>
              <a:tr h="57340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Checkpoint metric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Value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Precision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55.68%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Recall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48.72%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mAP@50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50.43%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mAP@50–95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25.66%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3BE19D6-5426-4C82-B9C8-68DCE6464FBA}"/>
              </a:ext>
            </a:extLst>
          </p:cNvPr>
          <p:cNvGraphicFramePr/>
          <p:nvPr/>
        </p:nvGraphicFramePr>
        <p:xfrm>
          <a:off xmlns:a="http://schemas.openxmlformats.org/drawingml/2006/main" x="5048250" y="1371600"/>
          <a:ext xmlns:a="http://schemas.openxmlformats.org/drawingml/2006/main" cx="6762750" cy="3371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231d2b67164ab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E6098-A272-4FEE-8315-C5F41E69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244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The checkpoint is from epoch 79. The run log continues to epoch 80.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5B62B-0374-4593-B830-2444E274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48275"/>
            <a:ext cx="11277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The gap between AP50 and stricter IoU scores indicates that precise localization still needs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02518-18EE-4F2B-BD81-890EBB0F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37DC2-3567-416C-9C93-B83C10F8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6CBB4-6F77-4275-8D53-63AB986D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7439606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010AB-5D45-45C9-B14E-679D6A3A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Results: Pothole Detection &amp; Discussion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D4588-02FF-4994-AE6C-54C5DFFBF9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51d25f7e94000"/>
          <a:stretch xmlns:a="http://schemas.openxmlformats.org/drawingml/2006/main"/>
        </p:blipFill>
        <p:spPr>
          <a:xfrm xmlns:a="http://schemas.openxmlformats.org/drawingml/2006/main">
            <a:off x="633413" y="1343025"/>
            <a:ext cx="4219575" cy="42195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EC2B7-F002-412F-843C-4F8CBD6A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81125"/>
            <a:ext cx="6134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Fresh full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A1210-B8EC-4DE1-845E-4BB84B22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76425"/>
            <a:ext cx="59055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5,113 images at 512 px</a:t>
            </a:r>
          </a:p>
          <a:p xmlns:a="http://schemas.openxmlformats.org/drawingml/2006/main">
            <a:pPr algn="l">
              <a:defRPr sz="187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Overall mAP50: 50.41%</a:t>
            </a:r>
          </a:p>
          <a:p xmlns:a="http://schemas.openxmlformats.org/drawingml/2006/main">
            <a:pPr algn="l">
              <a:defRPr sz="187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Overall mAP50–95: 25.66%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FE38A-9C31-4B46-A586-F84DDBFB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766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Pothole: AP50 35.97%</a:t>
            </a:r>
          </a:p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Precision 52.56%   Recall 31.36%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3B456-2FA6-44D6-A276-ED18F9B6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95775"/>
            <a:ext cx="5905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Pothole recall is the main weakness. Small and low-contrast damage needs further study.</a:t>
            </a:r>
          </a:p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Inference: 4.4 ms/image on GTX 1650, batch 16.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DE215-5B10-4909-BAA2-A28E332D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2452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65F"/>
                </a:solidFill>
                <a:latin typeface="Aptos"/>
                <a:ea typeface="Aptos"/>
                <a:cs typeface="Aptos"/>
              </a:rPr>
              <a:t>Annotated example from the local test split. Bounding boxes indicate 2-D image extent, not pothole depth.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3EB22-50FF-4AD1-BC22-288EDBBB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B6B3D-AD60-4C4E-BD13-F89935D2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4AB0F-12CC-43F2-B40D-61EB9FCC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7564403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5A1CE-95BE-4B7C-931B-F65F7803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Dataset Chosen &amp; Proposed Data Novelty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BAD0A-7A2E-4E30-A9F4-2A598ECE41B9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2181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62300"/>
                <a:gridCol w="2705100"/>
                <a:gridCol w="2705100"/>
                <a:gridCol w="2705100"/>
              </a:tblGrid>
              <a:tr h="54530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Local split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Images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Pothole boxes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Background images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T w="9525">
                      <a:solidFill>
                        <a:srgbClr val="DBCBD1"/>
                      </a:solidFill>
                      <a:prstDash val="solid"/>
                    </a:lnT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801238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Train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16,726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4,406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1,000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Validation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5,113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912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1,837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7EDF1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Test</a:t>
                      </a:r>
                    </a:p>
                  </a:txBody>
                  <a:tcPr marL="114300" marR="114300" marT="85725" marB="85725" anchor="ctr">
                    <a:lnL w="9525">
                      <a:solidFill>
                        <a:srgbClr val="DBCBD1"/>
                      </a:solidFill>
                      <a:prstDash val="solid"/>
                    </a:lnL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5,076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905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025"/>
                          </a:solidFill>
                          <a:latin typeface="Aptos"/>
                          <a:ea typeface="Aptos"/>
                          <a:cs typeface="Aptos"/>
                        </a:rPr>
                        <a:t>1,790</a:t>
                      </a:r>
                    </a:p>
                  </a:txBody>
                  <a:tcPr marL="114300" marR="114300" marT="85725" marB="85725" anchor="ctr">
                    <a:lnR w="9525">
                      <a:solidFill>
                        <a:srgbClr val="DBCBD1"/>
                      </a:solidFill>
                      <a:prstDash val="solid"/>
                    </a:lnR>
                    <a:lnB w="9525">
                      <a:solidFill>
                        <a:srgbClr val="DBCB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12D9E-56DB-4EE3-A20E-029F003A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RDD2022 subset: five local classes, including Pothole and “other corruption”.</a:t>
            </a:r>
          </a:p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Training scripts filter China drone/motorbike views and keep 1,000 training backgrounds.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25200-ED67-4CAF-BB05-ADDDC475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Proposed novelty: matched clean/noisy pairs with fixed corruption seeds, evaluated by scene and noise level.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E24D7-0839-499E-90AA-ACF5403E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65F"/>
                </a:solidFill>
                <a:latin typeface="Aptos"/>
                <a:ea typeface="Aptos"/>
                <a:cs typeface="Aptos"/>
              </a:rPr>
              <a:t>IEEE DataPort related benchmark (not used in training):</a:t>
            </a:r>
          </a:p>
          <a:p xmlns:a="http://schemas.openxmlformats.org/drawingml/2006/main">
            <a:pPr algn="l">
              <a:defRPr sz="1350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65F"/>
                </a:solidFill>
                <a:latin typeface="Aptos"/>
                <a:ea typeface="Aptos"/>
                <a:cs typeface="Aptos"/>
              </a:rPr>
              <a:t>https://ieee-dataport.org/documents/road-surface-damages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E5F08-1F02-4349-9737-B7CEC4BE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0B04F-EACF-44C8-84E6-8606FD79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24FE8-83D8-48BB-9BA1-75AE7F2E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506627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76406-DB7B-4B74-862D-64CE3FB4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UI Screens Planned for the Application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DFFC8-4846-4417-83F2-2A716C7435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161ce93744ddc"/>
          <a:stretch xmlns:a="http://schemas.openxmlformats.org/drawingml/2006/main"/>
        </p:blipFill>
        <p:spPr>
          <a:xfrm xmlns:a="http://schemas.openxmlformats.org/drawingml/2006/main">
            <a:off x="931545" y="1352550"/>
            <a:ext cx="6766560" cy="4229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F4F00-11F7-481D-A425-14178A04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906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Existing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AB33C-12B4-4A81-BD27-B4B5E992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0225"/>
            <a:ext cx="31623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Dashboard, live map, damage analytics, repair priority and reports.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218B8-6C35-4A54-B28E-D4F27A2C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Planned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6166F-073A-4AC4-8F95-07366944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3162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Upload images or video, show detections, adjust confidence and confirm damage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DF5E7-6374-4924-A329-E1A0D383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2452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65F"/>
                </a:solidFill>
                <a:latin typeface="Aptos"/>
                <a:ea typeface="Aptos"/>
                <a:cs typeface="Aptos"/>
              </a:rPr>
              <a:t>Prototype screens contain sample data. The model-to-dashboard service is a planned integration.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8DE9A-B6DF-4F0F-BCB4-5A70994E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16B12-558E-4815-AFC1-286E6F6F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A3D18-5EB2-443D-997A-0B64979F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21167332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7CC52-85FD-4985-AB00-90A7BA2C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Standard Paper Chosen &amp; Justification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923BB-2743-4BBC-8FC9-4461A569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11277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A Lightweight YOLOv11n-Based Framework for Highway Pavement Distress Detection Under Occlusion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ED43B-1784-449D-8C46-2C8EB967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Li et al. (2025), Applied Sciences 15(17), 9664</a:t>
            </a:r>
          </a:p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DOI: 10.3390/app15179664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C00E5-D4E5-49B7-A614-3EB6A7B9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7575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Why this paper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A564C-C225-43F4-BE8B-CAC9EFCE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52959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It uses the same nano YOLO11 family and evaluates pavement damage under occlusion, a relevant source of missed potholes.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63259-A6F7-4039-9A45-1B42162A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5757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Reference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30FE2-7277-4D33-9779-D68A79E0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5257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RS-YOLOv11n reports mAP50 71.49%, 2.04 M parameters and 5.20 GFLOPs on RDD2022_Mix.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B3053-CCFC-4CD9-8C2C-D098BA66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29225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Adaptation: keep the verified YOLO11n baseline and evaluate the denoising proposal through controlled ablations.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D7AC6-5D62-45E7-8A87-BC5F16A7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BC118-3368-4C16-8137-657A11C8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D6526-7CBE-428B-B90F-A1856001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8255126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D6C73-5B97-439F-A60A-9781308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References: Journal Papers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4AB7C-B1C8-4243-A647-CD24433C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[1] Li et al. (2025) — Applied Sciences 15(17), 9664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6E700-9C7B-4209-91B0-BFB8DF69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11277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A Lightweight YOLOv11n-Based Framework for Highway Pavement Distress Detection Under Occlusion Conditions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35F25-9A9B-4C66-A189-77DE8E6C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565F"/>
                </a:solidFill>
                <a:latin typeface="Aptos"/>
                <a:ea typeface="Aptos"/>
                <a:cs typeface="Aptos"/>
              </a:rPr>
              <a:t>https://doi.org/10.3390/app15179664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3F41D-260C-4A1E-99AF-ED37657A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[2] Liu et al. (2025) — Computers, Materials &amp; Continua 85(1), 1073–1094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4DF4B-8BA9-4D85-983D-473F76B1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11277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A YOLOv11 Empowered Road Defect Detection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69E7D-2260-449B-B575-9730D1F0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565F"/>
                </a:solidFill>
                <a:latin typeface="Aptos"/>
                <a:ea typeface="Aptos"/>
                <a:cs typeface="Aptos"/>
              </a:rPr>
              <a:t>https://doi.org/10.32604/cmc.2025.066078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A917E-5FFB-484A-8F85-77BB1EB5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[3] Mi et al. (2026 volume, online 2025) — Computers, Materials &amp; Continua 86(1), 1–22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33F23-8469-42B1-B367-9E015628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62475"/>
            <a:ext cx="11277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Pavement Crack Detection Based on Star-YOLO11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DAFA2-7EB9-438C-8828-C9CB51CC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565F"/>
                </a:solidFill>
                <a:latin typeface="Aptos"/>
                <a:ea typeface="Aptos"/>
                <a:cs typeface="Aptos"/>
              </a:rPr>
              <a:t>https://doi.org/10.32604/cmc.2025.069348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56FE5-7355-4662-9E64-D82CDD47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0C49F-BD19-4CF2-9385-210B7EBB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229BE-9C45-42E8-82CD-0DDB60B9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21247963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16285-64CE-4D33-A75B-0E48456C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References: Journal Papers &amp; Project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A53BF-8CE3-42D4-8662-07459CEE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[4] Zhang, Deng &amp; Zou (2025) — PLOS ONE 20(9), e0327387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6A4C1-8D33-4370-84F3-E7B78467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11277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Automatic road damage recognition based on improved YOLOv11 with multi-scale feature extraction and fusion attention mechanism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2C0F3-D98C-4B16-AE5D-C9E5D02A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565F"/>
                </a:solidFill>
                <a:latin typeface="Aptos"/>
                <a:ea typeface="Aptos"/>
                <a:cs typeface="Aptos"/>
              </a:rPr>
              <a:t>https://doi.org/10.1371/journal.pone.0327387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ACDC7-9FE4-4F74-BB00-94938F92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[5] Dong, Yuan &amp; Dai (2025) — Sensors 25(11), 3276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5D354-95DB-4E6C-B8F1-985148EC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11277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Study on Lightweight Bridge Crack Detection Algorithm Based on YOLO11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485CC-C99A-4964-9D76-82F9708A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565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565F"/>
                </a:solidFill>
                <a:latin typeface="Aptos"/>
                <a:ea typeface="Aptos"/>
                <a:cs typeface="Aptos"/>
              </a:rPr>
              <a:t>https://doi.org/10.3390/s25113276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D44AC-E941-4443-80B2-EBAD4026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80123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01238"/>
                </a:solidFill>
                <a:latin typeface="Aptos"/>
                <a:ea typeface="Aptos"/>
                <a:cs typeface="Aptos"/>
              </a:rPr>
              <a:t>Model and dataset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DDE89-A00E-4D87-B66A-3ACE56BF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112776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gopher-ai_v1.pt, train-10/results.csv, train-10/args.yaml and rdd2022/data.yaml</a:t>
            </a:r>
          </a:p>
          <a:p xmlns:a="http://schemas.openxmlformats.org/drawingml/2006/main">
            <a:pPr algn="l">
              <a:defRPr sz="165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Ultralytics YOLO11: https://docs.ultralytics.com/models/yolo11/</a:t>
            </a:r>
          </a:p>
          <a:p xmlns:a="http://schemas.openxmlformats.org/drawingml/2006/main">
            <a:pPr algn="l">
              <a:defRPr sz="1650" b="0">
                <a:solidFill>
                  <a:srgbClr val="20202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025"/>
                </a:solidFill>
                <a:latin typeface="Aptos"/>
                <a:ea typeface="Aptos"/>
                <a:cs typeface="Aptos"/>
              </a:rPr>
              <a:t>RDD2022 official archive: https://doi.org/10.6084/m9.figshare.21431547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7093F-BA82-4B6A-988F-0FD6526D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123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6541E-A061-4F7A-A0A2-00C11FDA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23CSE473 – Neural Networks and Deep Learning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F9939-880B-422A-8C92-6B43127D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791635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2026-10-13T19:15:17.3970000Z</dcterms:created>
  <dcterms:modified xsi:type="dcterms:W3CDTF">2026-10-13T19:15:17.3970000Z</dcterms:modified>
</coreProperties>
</file>